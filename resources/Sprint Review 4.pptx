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Fredoka" charset="1" panose="02000000000000000000"/>
      <p:regular r:id="rId15"/>
    </p:embeddedFont>
    <p:embeddedFont>
      <p:font typeface="Alata" charset="1" panose="00000500000000000000"/>
      <p:regular r:id="rId16"/>
    </p:embeddedFont>
    <p:embeddedFont>
      <p:font typeface="Alatsi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9.png" Type="http://schemas.openxmlformats.org/officeDocument/2006/relationships/image"/><Relationship Id="rId4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9.png" Type="http://schemas.openxmlformats.org/officeDocument/2006/relationships/image"/><Relationship Id="rId4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74C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19910" y="6240639"/>
            <a:ext cx="6139390" cy="3471546"/>
          </a:xfrm>
          <a:custGeom>
            <a:avLst/>
            <a:gdLst/>
            <a:ahLst/>
            <a:cxnLst/>
            <a:rect r="r" b="b" t="t" l="l"/>
            <a:pathLst>
              <a:path h="3471546" w="6139390">
                <a:moveTo>
                  <a:pt x="0" y="0"/>
                </a:moveTo>
                <a:lnTo>
                  <a:pt x="6139390" y="0"/>
                </a:lnTo>
                <a:lnTo>
                  <a:pt x="6139390" y="3471546"/>
                </a:lnTo>
                <a:lnTo>
                  <a:pt x="0" y="3471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659260" y="-264531"/>
            <a:ext cx="6307870" cy="3566814"/>
          </a:xfrm>
          <a:custGeom>
            <a:avLst/>
            <a:gdLst/>
            <a:ahLst/>
            <a:cxnLst/>
            <a:rect r="r" b="b" t="t" l="l"/>
            <a:pathLst>
              <a:path h="3566814" w="6307870">
                <a:moveTo>
                  <a:pt x="0" y="0"/>
                </a:moveTo>
                <a:lnTo>
                  <a:pt x="6307870" y="0"/>
                </a:lnTo>
                <a:lnTo>
                  <a:pt x="6307870" y="3566814"/>
                </a:lnTo>
                <a:lnTo>
                  <a:pt x="0" y="35668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485972" y="-264531"/>
            <a:ext cx="4246431" cy="2586462"/>
          </a:xfrm>
          <a:custGeom>
            <a:avLst/>
            <a:gdLst/>
            <a:ahLst/>
            <a:cxnLst/>
            <a:rect r="r" b="b" t="t" l="l"/>
            <a:pathLst>
              <a:path h="2586462" w="4246431">
                <a:moveTo>
                  <a:pt x="0" y="0"/>
                </a:moveTo>
                <a:lnTo>
                  <a:pt x="4246431" y="0"/>
                </a:lnTo>
                <a:lnTo>
                  <a:pt x="4246431" y="2586462"/>
                </a:lnTo>
                <a:lnTo>
                  <a:pt x="0" y="25864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61345" y="574815"/>
            <a:ext cx="14765311" cy="9137371"/>
            <a:chOff x="0" y="0"/>
            <a:chExt cx="19687081" cy="121831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687081" cy="12183161"/>
            </a:xfrm>
            <a:custGeom>
              <a:avLst/>
              <a:gdLst/>
              <a:ahLst/>
              <a:cxnLst/>
              <a:rect r="r" b="b" t="t" l="l"/>
              <a:pathLst>
                <a:path h="12183161" w="19687081">
                  <a:moveTo>
                    <a:pt x="0" y="0"/>
                  </a:moveTo>
                  <a:lnTo>
                    <a:pt x="19687081" y="0"/>
                  </a:lnTo>
                  <a:lnTo>
                    <a:pt x="19687081" y="12183161"/>
                  </a:lnTo>
                  <a:lnTo>
                    <a:pt x="0" y="12183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26636" t="0" r="0" b="-88635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-847417">
              <a:off x="12086722" y="3301026"/>
              <a:ext cx="2305965" cy="5581109"/>
              <a:chOff x="0" y="0"/>
              <a:chExt cx="455499" cy="1102441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55499" cy="1102441"/>
              </a:xfrm>
              <a:custGeom>
                <a:avLst/>
                <a:gdLst/>
                <a:ahLst/>
                <a:cxnLst/>
                <a:rect r="r" b="b" t="t" l="l"/>
                <a:pathLst>
                  <a:path h="1102441" w="455499">
                    <a:moveTo>
                      <a:pt x="0" y="0"/>
                    </a:moveTo>
                    <a:lnTo>
                      <a:pt x="455499" y="0"/>
                    </a:lnTo>
                    <a:lnTo>
                      <a:pt x="455499" y="1102441"/>
                    </a:lnTo>
                    <a:lnTo>
                      <a:pt x="0" y="1102441"/>
                    </a:lnTo>
                    <a:close/>
                  </a:path>
                </a:pathLst>
              </a:custGeom>
              <a:solidFill>
                <a:srgbClr val="CAEEE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455499" cy="11500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0" id="10"/>
          <p:cNvSpPr/>
          <p:nvPr/>
        </p:nvSpPr>
        <p:spPr>
          <a:xfrm flipH="false" flipV="false" rot="0">
            <a:off x="-892008" y="7284639"/>
            <a:ext cx="6980795" cy="3947323"/>
          </a:xfrm>
          <a:custGeom>
            <a:avLst/>
            <a:gdLst/>
            <a:ahLst/>
            <a:cxnLst/>
            <a:rect r="r" b="b" t="t" l="l"/>
            <a:pathLst>
              <a:path h="3947323" w="6980795">
                <a:moveTo>
                  <a:pt x="0" y="0"/>
                </a:moveTo>
                <a:lnTo>
                  <a:pt x="6980795" y="0"/>
                </a:lnTo>
                <a:lnTo>
                  <a:pt x="6980795" y="3947322"/>
                </a:lnTo>
                <a:lnTo>
                  <a:pt x="0" y="39473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-1892126" y="-264531"/>
            <a:ext cx="8981032" cy="4490516"/>
          </a:xfrm>
          <a:custGeom>
            <a:avLst/>
            <a:gdLst/>
            <a:ahLst/>
            <a:cxnLst/>
            <a:rect r="r" b="b" t="t" l="l"/>
            <a:pathLst>
              <a:path h="4490516" w="8981032">
                <a:moveTo>
                  <a:pt x="8981032" y="0"/>
                </a:moveTo>
                <a:lnTo>
                  <a:pt x="0" y="0"/>
                </a:lnTo>
                <a:lnTo>
                  <a:pt x="0" y="4490516"/>
                </a:lnTo>
                <a:lnTo>
                  <a:pt x="8981032" y="4490516"/>
                </a:lnTo>
                <a:lnTo>
                  <a:pt x="8981032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207806" y="7760415"/>
            <a:ext cx="3204399" cy="1951770"/>
          </a:xfrm>
          <a:custGeom>
            <a:avLst/>
            <a:gdLst/>
            <a:ahLst/>
            <a:cxnLst/>
            <a:rect r="r" b="b" t="t" l="l"/>
            <a:pathLst>
              <a:path h="1951770" w="3204399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-780326">
            <a:off x="4100677" y="4165330"/>
            <a:ext cx="9605379" cy="10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60"/>
              </a:lnSpc>
            </a:pPr>
            <a:r>
              <a:rPr lang="en-US" sz="7793">
                <a:solidFill>
                  <a:srgbClr val="112838"/>
                </a:solidFill>
                <a:latin typeface="Fredoka"/>
                <a:ea typeface="Fredoka"/>
                <a:cs typeface="Fredoka"/>
                <a:sym typeface="Fredoka"/>
              </a:rPr>
              <a:t>#4 SPRINT REVIEW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696687">
            <a:off x="13837804" y="4943119"/>
            <a:ext cx="3950782" cy="4683039"/>
          </a:xfrm>
          <a:custGeom>
            <a:avLst/>
            <a:gdLst/>
            <a:ahLst/>
            <a:cxnLst/>
            <a:rect r="r" b="b" t="t" l="l"/>
            <a:pathLst>
              <a:path h="4683039" w="3950782">
                <a:moveTo>
                  <a:pt x="0" y="0"/>
                </a:moveTo>
                <a:lnTo>
                  <a:pt x="3950782" y="0"/>
                </a:lnTo>
                <a:lnTo>
                  <a:pt x="3950782" y="4683039"/>
                </a:lnTo>
                <a:lnTo>
                  <a:pt x="0" y="468303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-787823">
            <a:off x="10169815" y="6156062"/>
            <a:ext cx="3530581" cy="437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2"/>
              </a:lnSpc>
            </a:pPr>
            <a:r>
              <a:rPr lang="en-US" sz="3200">
                <a:solidFill>
                  <a:srgbClr val="112838"/>
                </a:solidFill>
                <a:latin typeface="Alata"/>
                <a:ea typeface="Alata"/>
                <a:cs typeface="Alata"/>
                <a:sym typeface="Alata"/>
              </a:rPr>
              <a:t> Avinash Pauskar</a:t>
            </a:r>
          </a:p>
        </p:txBody>
      </p:sp>
      <p:sp>
        <p:nvSpPr>
          <p:cNvPr name="TextBox 16" id="16"/>
          <p:cNvSpPr txBox="true"/>
          <p:nvPr/>
        </p:nvSpPr>
        <p:spPr>
          <a:xfrm rot="-787823">
            <a:off x="10892018" y="6694687"/>
            <a:ext cx="2811412" cy="328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4"/>
              </a:lnSpc>
            </a:pPr>
            <a:r>
              <a:rPr lang="en-US" sz="2400">
                <a:solidFill>
                  <a:srgbClr val="112838"/>
                </a:solidFill>
                <a:latin typeface="Alata"/>
                <a:ea typeface="Alata"/>
                <a:cs typeface="Alata"/>
                <a:sym typeface="Alata"/>
              </a:rPr>
              <a:t>R&amp;D Intern @ Esko</a:t>
            </a:r>
          </a:p>
        </p:txBody>
      </p:sp>
      <p:sp>
        <p:nvSpPr>
          <p:cNvPr name="TextBox 17" id="17"/>
          <p:cNvSpPr txBox="true"/>
          <p:nvPr/>
        </p:nvSpPr>
        <p:spPr>
          <a:xfrm rot="-738255">
            <a:off x="7547362" y="5326595"/>
            <a:ext cx="3710017" cy="524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7"/>
              </a:lnSpc>
            </a:pPr>
            <a:r>
              <a:rPr lang="en-US" sz="3799">
                <a:solidFill>
                  <a:srgbClr val="112838"/>
                </a:solidFill>
                <a:latin typeface="Alata"/>
                <a:ea typeface="Alata"/>
                <a:cs typeface="Alata"/>
                <a:sym typeface="Alata"/>
              </a:rPr>
              <a:t>C++ and GitHub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74C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99391">
            <a:off x="700197" y="663471"/>
            <a:ext cx="16781112" cy="8909245"/>
          </a:xfrm>
          <a:custGeom>
            <a:avLst/>
            <a:gdLst/>
            <a:ahLst/>
            <a:cxnLst/>
            <a:rect r="r" b="b" t="t" l="l"/>
            <a:pathLst>
              <a:path h="8909245" w="16781112">
                <a:moveTo>
                  <a:pt x="0" y="0"/>
                </a:moveTo>
                <a:lnTo>
                  <a:pt x="16781112" y="0"/>
                </a:lnTo>
                <a:lnTo>
                  <a:pt x="16781112" y="8909245"/>
                </a:lnTo>
                <a:lnTo>
                  <a:pt x="0" y="89092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643763">
            <a:off x="8886296" y="3410439"/>
            <a:ext cx="7139001" cy="4783960"/>
            <a:chOff x="0" y="0"/>
            <a:chExt cx="1004478" cy="6731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04478" cy="673117"/>
            </a:xfrm>
            <a:custGeom>
              <a:avLst/>
              <a:gdLst/>
              <a:ahLst/>
              <a:cxnLst/>
              <a:rect r="r" b="b" t="t" l="l"/>
              <a:pathLst>
                <a:path h="673117" w="1004478">
                  <a:moveTo>
                    <a:pt x="59645" y="0"/>
                  </a:moveTo>
                  <a:lnTo>
                    <a:pt x="944833" y="0"/>
                  </a:lnTo>
                  <a:cubicBezTo>
                    <a:pt x="960651" y="0"/>
                    <a:pt x="975822" y="6284"/>
                    <a:pt x="987008" y="17470"/>
                  </a:cubicBezTo>
                  <a:cubicBezTo>
                    <a:pt x="998194" y="28655"/>
                    <a:pt x="1004478" y="43826"/>
                    <a:pt x="1004478" y="59645"/>
                  </a:cubicBezTo>
                  <a:lnTo>
                    <a:pt x="1004478" y="613472"/>
                  </a:lnTo>
                  <a:cubicBezTo>
                    <a:pt x="1004478" y="629290"/>
                    <a:pt x="998194" y="644461"/>
                    <a:pt x="987008" y="655647"/>
                  </a:cubicBezTo>
                  <a:cubicBezTo>
                    <a:pt x="975822" y="666833"/>
                    <a:pt x="960651" y="673117"/>
                    <a:pt x="944833" y="673117"/>
                  </a:cubicBezTo>
                  <a:lnTo>
                    <a:pt x="59645" y="673117"/>
                  </a:lnTo>
                  <a:cubicBezTo>
                    <a:pt x="43826" y="673117"/>
                    <a:pt x="28655" y="666833"/>
                    <a:pt x="17470" y="655647"/>
                  </a:cubicBezTo>
                  <a:cubicBezTo>
                    <a:pt x="6284" y="644461"/>
                    <a:pt x="0" y="629290"/>
                    <a:pt x="0" y="613472"/>
                  </a:cubicBezTo>
                  <a:lnTo>
                    <a:pt x="0" y="59645"/>
                  </a:lnTo>
                  <a:cubicBezTo>
                    <a:pt x="0" y="43826"/>
                    <a:pt x="6284" y="28655"/>
                    <a:pt x="17470" y="17470"/>
                  </a:cubicBezTo>
                  <a:cubicBezTo>
                    <a:pt x="28655" y="6284"/>
                    <a:pt x="43826" y="0"/>
                    <a:pt x="596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004478" cy="720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7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1162792">
            <a:off x="-2938996" y="7478832"/>
            <a:ext cx="7935392" cy="7935392"/>
          </a:xfrm>
          <a:custGeom>
            <a:avLst/>
            <a:gdLst/>
            <a:ahLst/>
            <a:cxnLst/>
            <a:rect r="r" b="b" t="t" l="l"/>
            <a:pathLst>
              <a:path h="7935392" w="7935392">
                <a:moveTo>
                  <a:pt x="0" y="0"/>
                </a:moveTo>
                <a:lnTo>
                  <a:pt x="7935392" y="0"/>
                </a:lnTo>
                <a:lnTo>
                  <a:pt x="7935392" y="7935392"/>
                </a:lnTo>
                <a:lnTo>
                  <a:pt x="0" y="79353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7790088">
            <a:off x="11442803" y="-599120"/>
            <a:ext cx="7419637" cy="5719866"/>
          </a:xfrm>
          <a:custGeom>
            <a:avLst/>
            <a:gdLst/>
            <a:ahLst/>
            <a:cxnLst/>
            <a:rect r="r" b="b" t="t" l="l"/>
            <a:pathLst>
              <a:path h="5719866" w="7419637">
                <a:moveTo>
                  <a:pt x="0" y="0"/>
                </a:moveTo>
                <a:lnTo>
                  <a:pt x="7419637" y="0"/>
                </a:lnTo>
                <a:lnTo>
                  <a:pt x="7419637" y="5719866"/>
                </a:lnTo>
                <a:lnTo>
                  <a:pt x="0" y="5719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240651"/>
            <a:ext cx="2536872" cy="656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8"/>
              </a:lnSpc>
            </a:pPr>
            <a:r>
              <a:rPr lang="en-US" sz="4800">
                <a:solidFill>
                  <a:srgbClr val="FFFFFF"/>
                </a:solidFill>
                <a:latin typeface="Alata"/>
                <a:ea typeface="Alata"/>
                <a:cs typeface="Alata"/>
                <a:sym typeface="Alata"/>
              </a:rPr>
              <a:t>AGENDA</a:t>
            </a:r>
          </a:p>
        </p:txBody>
      </p:sp>
      <p:sp>
        <p:nvSpPr>
          <p:cNvPr name="TextBox 9" id="9"/>
          <p:cNvSpPr txBox="true"/>
          <p:nvPr/>
        </p:nvSpPr>
        <p:spPr>
          <a:xfrm rot="-624567">
            <a:off x="8940615" y="3605079"/>
            <a:ext cx="6999385" cy="4226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5664"/>
              </a:lnSpc>
              <a:buFont typeface="Arial"/>
              <a:buChar char="•"/>
            </a:pPr>
            <a:r>
              <a:rPr lang="en-US" sz="3200">
                <a:solidFill>
                  <a:srgbClr val="112838"/>
                </a:solidFill>
                <a:latin typeface="Alata"/>
                <a:ea typeface="Alata"/>
                <a:cs typeface="Alata"/>
                <a:sym typeface="Alata"/>
              </a:rPr>
              <a:t>PROJECT INTRODUCTION</a:t>
            </a:r>
          </a:p>
          <a:p>
            <a:pPr algn="l" marL="690881" indent="-345440" lvl="1">
              <a:lnSpc>
                <a:spcPts val="5664"/>
              </a:lnSpc>
              <a:buFont typeface="Arial"/>
              <a:buChar char="•"/>
            </a:pPr>
            <a:r>
              <a:rPr lang="en-US" sz="3200">
                <a:solidFill>
                  <a:srgbClr val="112838"/>
                </a:solidFill>
                <a:latin typeface="Alata"/>
                <a:ea typeface="Alata"/>
                <a:cs typeface="Alata"/>
                <a:sym typeface="Alata"/>
              </a:rPr>
              <a:t>PROJECT DEMO</a:t>
            </a:r>
          </a:p>
          <a:p>
            <a:pPr algn="l" marL="690881" indent="-345440" lvl="1">
              <a:lnSpc>
                <a:spcPts val="5664"/>
              </a:lnSpc>
              <a:buFont typeface="Arial"/>
              <a:buChar char="•"/>
            </a:pPr>
            <a:r>
              <a:rPr lang="en-US" sz="3200">
                <a:solidFill>
                  <a:srgbClr val="112838"/>
                </a:solidFill>
                <a:latin typeface="Alata"/>
                <a:ea typeface="Alata"/>
                <a:cs typeface="Alata"/>
                <a:sym typeface="Alata"/>
              </a:rPr>
              <a:t>FLOWCHART &amp; SYSTEM ARCHITECTURE </a:t>
            </a:r>
          </a:p>
          <a:p>
            <a:pPr algn="l" marL="690881" indent="-345440" lvl="1">
              <a:lnSpc>
                <a:spcPts val="5664"/>
              </a:lnSpc>
              <a:buFont typeface="Arial"/>
              <a:buChar char="•"/>
            </a:pPr>
            <a:r>
              <a:rPr lang="en-US" sz="3200">
                <a:solidFill>
                  <a:srgbClr val="112838"/>
                </a:solidFill>
                <a:latin typeface="Alata"/>
                <a:ea typeface="Alata"/>
                <a:cs typeface="Alata"/>
                <a:sym typeface="Alata"/>
              </a:rPr>
              <a:t>UNIQUE FEATURES</a:t>
            </a:r>
          </a:p>
          <a:p>
            <a:pPr algn="l" marL="690881" indent="-345440" lvl="1">
              <a:lnSpc>
                <a:spcPts val="5664"/>
              </a:lnSpc>
              <a:buFont typeface="Arial"/>
              <a:buChar char="•"/>
            </a:pPr>
            <a:r>
              <a:rPr lang="en-US" sz="3200">
                <a:solidFill>
                  <a:srgbClr val="112838"/>
                </a:solidFill>
                <a:latin typeface="Alata"/>
                <a:ea typeface="Alata"/>
                <a:cs typeface="Alata"/>
                <a:sym typeface="Alata"/>
              </a:rPr>
              <a:t>CHALLENGES &amp; LIMITATIONS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74C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96687">
            <a:off x="14954494" y="6467093"/>
            <a:ext cx="2516432" cy="2982839"/>
          </a:xfrm>
          <a:custGeom>
            <a:avLst/>
            <a:gdLst/>
            <a:ahLst/>
            <a:cxnLst/>
            <a:rect r="r" b="b" t="t" l="l"/>
            <a:pathLst>
              <a:path h="2982839" w="2516432">
                <a:moveTo>
                  <a:pt x="0" y="0"/>
                </a:moveTo>
                <a:lnTo>
                  <a:pt x="2516432" y="0"/>
                </a:lnTo>
                <a:lnTo>
                  <a:pt x="2516432" y="2982839"/>
                </a:lnTo>
                <a:lnTo>
                  <a:pt x="0" y="29828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74504" y="1405768"/>
            <a:ext cx="11907658" cy="5247843"/>
            <a:chOff x="0" y="0"/>
            <a:chExt cx="15876877" cy="6997124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5876877" cy="6997124"/>
              <a:chOff x="0" y="0"/>
              <a:chExt cx="3136173" cy="1382148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136173" cy="1382148"/>
              </a:xfrm>
              <a:custGeom>
                <a:avLst/>
                <a:gdLst/>
                <a:ahLst/>
                <a:cxnLst/>
                <a:rect r="r" b="b" t="t" l="l"/>
                <a:pathLst>
                  <a:path h="1382148" w="3136173">
                    <a:moveTo>
                      <a:pt x="20805" y="0"/>
                    </a:moveTo>
                    <a:lnTo>
                      <a:pt x="3115368" y="0"/>
                    </a:lnTo>
                    <a:cubicBezTo>
                      <a:pt x="3126858" y="0"/>
                      <a:pt x="3136173" y="9315"/>
                      <a:pt x="3136173" y="20805"/>
                    </a:cubicBezTo>
                    <a:lnTo>
                      <a:pt x="3136173" y="1361343"/>
                    </a:lnTo>
                    <a:cubicBezTo>
                      <a:pt x="3136173" y="1372833"/>
                      <a:pt x="3126858" y="1382148"/>
                      <a:pt x="3115368" y="1382148"/>
                    </a:cubicBezTo>
                    <a:lnTo>
                      <a:pt x="20805" y="1382148"/>
                    </a:lnTo>
                    <a:cubicBezTo>
                      <a:pt x="9315" y="1382148"/>
                      <a:pt x="0" y="1372833"/>
                      <a:pt x="0" y="1361343"/>
                    </a:cubicBezTo>
                    <a:lnTo>
                      <a:pt x="0" y="20805"/>
                    </a:lnTo>
                    <a:cubicBezTo>
                      <a:pt x="0" y="9315"/>
                      <a:pt x="9315" y="0"/>
                      <a:pt x="2080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85725"/>
                <a:ext cx="3136173" cy="14678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64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243903" y="516602"/>
              <a:ext cx="15053329" cy="58877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61341" indent="-280670" lvl="1">
                <a:lnSpc>
                  <a:spcPts val="3900"/>
                </a:lnSpc>
                <a:buFont typeface="Arial"/>
                <a:buChar char="•"/>
              </a:pPr>
              <a:r>
                <a:rPr lang="en-US" sz="2600">
                  <a:solidFill>
                    <a:srgbClr val="4040A3"/>
                  </a:solidFill>
                  <a:latin typeface="Alata"/>
                  <a:ea typeface="Alata"/>
                  <a:cs typeface="Alata"/>
                  <a:sym typeface="Alata"/>
                </a:rPr>
                <a:t>Command-line utility for accessing real-time gl</a:t>
              </a:r>
              <a:r>
                <a:rPr lang="en-US" sz="2600">
                  <a:solidFill>
                    <a:srgbClr val="4040A3"/>
                  </a:solidFill>
                  <a:latin typeface="Alata"/>
                  <a:ea typeface="Alata"/>
                  <a:cs typeface="Alata"/>
                  <a:sym typeface="Alata"/>
                </a:rPr>
                <a:t>obal time zone data</a:t>
              </a:r>
            </a:p>
            <a:p>
              <a:pPr algn="l">
                <a:lnSpc>
                  <a:spcPts val="3900"/>
                </a:lnSpc>
              </a:pPr>
            </a:p>
            <a:p>
              <a:pPr algn="l" marL="561341" indent="-280670" lvl="1">
                <a:lnSpc>
                  <a:spcPts val="3900"/>
                </a:lnSpc>
                <a:buFont typeface="Arial"/>
                <a:buChar char="•"/>
              </a:pPr>
              <a:r>
                <a:rPr lang="en-US" sz="2600">
                  <a:solidFill>
                    <a:srgbClr val="4040A3"/>
                  </a:solidFill>
                  <a:latin typeface="Alata"/>
                  <a:ea typeface="Alata"/>
                  <a:cs typeface="Alata"/>
                  <a:sym typeface="Alata"/>
                </a:rPr>
                <a:t>Key Features - </a:t>
              </a:r>
            </a:p>
            <a:p>
              <a:pPr algn="l" marL="1122681" indent="-374227" lvl="2">
                <a:lnSpc>
                  <a:spcPts val="3900"/>
                </a:lnSpc>
                <a:buFont typeface="Arial"/>
                <a:buChar char="⚬"/>
              </a:pPr>
              <a:r>
                <a:rPr lang="en-US" sz="2600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rPr>
                <a:t>Display current time in any global time zone</a:t>
              </a:r>
            </a:p>
            <a:p>
              <a:pPr algn="l" marL="1122681" indent="-374227" lvl="2">
                <a:lnSpc>
                  <a:spcPts val="3900"/>
                </a:lnSpc>
                <a:buFont typeface="Arial"/>
                <a:buChar char="⚬"/>
              </a:pPr>
              <a:r>
                <a:rPr lang="en-US" sz="2600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rPr>
                <a:t>Convert times between different time zones</a:t>
              </a:r>
            </a:p>
            <a:p>
              <a:pPr algn="l" marL="1122681" indent="-374227" lvl="2">
                <a:lnSpc>
                  <a:spcPts val="3900"/>
                </a:lnSpc>
                <a:buFont typeface="Arial"/>
                <a:buChar char="⚬"/>
              </a:pPr>
              <a:r>
                <a:rPr lang="en-US" sz="2600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rPr>
                <a:t>Search time zones by region or country</a:t>
              </a:r>
            </a:p>
            <a:p>
              <a:pPr algn="l" marL="1122681" indent="-374227" lvl="2">
                <a:lnSpc>
                  <a:spcPts val="3900"/>
                </a:lnSpc>
                <a:buFont typeface="Arial"/>
                <a:buChar char="⚬"/>
              </a:pPr>
              <a:r>
                <a:rPr lang="en-US" sz="2600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rPr>
                <a:t>Save and manage favorite time zones</a:t>
              </a:r>
            </a:p>
            <a:p>
              <a:pPr algn="l">
                <a:lnSpc>
                  <a:spcPts val="3900"/>
                </a:lnSpc>
              </a:pPr>
            </a:p>
            <a:p>
              <a:pPr algn="l" marL="561341" indent="-280670" lvl="1">
                <a:lnSpc>
                  <a:spcPts val="3900"/>
                </a:lnSpc>
                <a:buFont typeface="Arial"/>
                <a:buChar char="•"/>
              </a:pPr>
              <a:r>
                <a:rPr lang="en-US" sz="2600">
                  <a:solidFill>
                    <a:srgbClr val="4040A3"/>
                  </a:solidFill>
                  <a:latin typeface="Alata"/>
                  <a:ea typeface="Alata"/>
                  <a:cs typeface="Alata"/>
                  <a:sym typeface="Alata"/>
                </a:rPr>
                <a:t>Core advantage:</a:t>
              </a:r>
              <a:r>
                <a:rPr lang="en-US" sz="2600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rPr>
                <a:t> Uses external API data instead of system clock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74504" y="7202807"/>
            <a:ext cx="5397067" cy="2899207"/>
          </a:xfrm>
          <a:custGeom>
            <a:avLst/>
            <a:gdLst/>
            <a:ahLst/>
            <a:cxnLst/>
            <a:rect r="r" b="b" t="t" l="l"/>
            <a:pathLst>
              <a:path h="2899207" w="5397067">
                <a:moveTo>
                  <a:pt x="0" y="0"/>
                </a:moveTo>
                <a:lnTo>
                  <a:pt x="5397068" y="0"/>
                </a:lnTo>
                <a:lnTo>
                  <a:pt x="5397068" y="2899208"/>
                </a:lnTo>
                <a:lnTo>
                  <a:pt x="0" y="28992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502217"/>
            <a:ext cx="8724767" cy="656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8"/>
              </a:lnSpc>
            </a:pPr>
            <a:r>
              <a:rPr lang="en-US" sz="4800">
                <a:solidFill>
                  <a:srgbClr val="FFFFFF"/>
                </a:solidFill>
                <a:latin typeface="Alatsi"/>
                <a:ea typeface="Alatsi"/>
                <a:cs typeface="Alatsi"/>
                <a:sym typeface="Alatsi"/>
              </a:rPr>
              <a:t>GLOBAL TIME ZONE APPLICATION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74C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96687">
            <a:off x="8282784" y="3090640"/>
            <a:ext cx="1722432" cy="2041675"/>
          </a:xfrm>
          <a:custGeom>
            <a:avLst/>
            <a:gdLst/>
            <a:ahLst/>
            <a:cxnLst/>
            <a:rect r="r" b="b" t="t" l="l"/>
            <a:pathLst>
              <a:path h="2041675" w="1722432">
                <a:moveTo>
                  <a:pt x="0" y="0"/>
                </a:moveTo>
                <a:lnTo>
                  <a:pt x="1722432" y="0"/>
                </a:lnTo>
                <a:lnTo>
                  <a:pt x="1722432" y="2041676"/>
                </a:lnTo>
                <a:lnTo>
                  <a:pt x="0" y="20416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30960" y="5530589"/>
            <a:ext cx="7026079" cy="894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83"/>
              </a:lnSpc>
            </a:pPr>
            <a:r>
              <a:rPr lang="en-US" sz="6399">
                <a:solidFill>
                  <a:srgbClr val="FFFFFF"/>
                </a:solidFill>
                <a:latin typeface="Alatsi"/>
                <a:ea typeface="Alatsi"/>
                <a:cs typeface="Alatsi"/>
                <a:sym typeface="Alatsi"/>
              </a:rPr>
              <a:t>LET’S HAVE A DEMO!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74C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96687">
            <a:off x="16803309" y="8541715"/>
            <a:ext cx="1209074" cy="1433170"/>
          </a:xfrm>
          <a:custGeom>
            <a:avLst/>
            <a:gdLst/>
            <a:ahLst/>
            <a:cxnLst/>
            <a:rect r="r" b="b" t="t" l="l"/>
            <a:pathLst>
              <a:path h="1433170" w="1209074">
                <a:moveTo>
                  <a:pt x="0" y="0"/>
                </a:moveTo>
                <a:lnTo>
                  <a:pt x="1209074" y="0"/>
                </a:lnTo>
                <a:lnTo>
                  <a:pt x="1209074" y="1433170"/>
                </a:lnTo>
                <a:lnTo>
                  <a:pt x="0" y="14331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00581" y="1726481"/>
            <a:ext cx="9110368" cy="5503509"/>
          </a:xfrm>
          <a:custGeom>
            <a:avLst/>
            <a:gdLst/>
            <a:ahLst/>
            <a:cxnLst/>
            <a:rect r="r" b="b" t="t" l="l"/>
            <a:pathLst>
              <a:path h="5503509" w="9110368">
                <a:moveTo>
                  <a:pt x="0" y="0"/>
                </a:moveTo>
                <a:lnTo>
                  <a:pt x="9110367" y="0"/>
                </a:lnTo>
                <a:lnTo>
                  <a:pt x="9110367" y="5503509"/>
                </a:lnTo>
                <a:lnTo>
                  <a:pt x="0" y="55035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661" t="-9843" r="-2041" b="0"/>
            </a:stretch>
          </a:blipFill>
          <a:ln w="28575" cap="rnd">
            <a:solidFill>
              <a:srgbClr val="000000"/>
            </a:solidFill>
            <a:prstDash val="dash"/>
            <a:round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19400" y="1422527"/>
            <a:ext cx="7249709" cy="8163538"/>
          </a:xfrm>
          <a:custGeom>
            <a:avLst/>
            <a:gdLst/>
            <a:ahLst/>
            <a:cxnLst/>
            <a:rect r="r" b="b" t="t" l="l"/>
            <a:pathLst>
              <a:path h="8163538" w="7249709">
                <a:moveTo>
                  <a:pt x="0" y="0"/>
                </a:moveTo>
                <a:lnTo>
                  <a:pt x="7249709" y="0"/>
                </a:lnTo>
                <a:lnTo>
                  <a:pt x="7249709" y="8163538"/>
                </a:lnTo>
                <a:lnTo>
                  <a:pt x="0" y="81635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324" t="-1827" r="0" b="-1141"/>
            </a:stretch>
          </a:blipFill>
          <a:ln w="28575" cap="rnd">
            <a:solidFill>
              <a:srgbClr val="000000"/>
            </a:solidFill>
            <a:prstDash val="dash"/>
            <a:round/>
          </a:ln>
        </p:spPr>
      </p:sp>
      <p:sp>
        <p:nvSpPr>
          <p:cNvPr name="TextBox 5" id="5"/>
          <p:cNvSpPr txBox="true"/>
          <p:nvPr/>
        </p:nvSpPr>
        <p:spPr>
          <a:xfrm rot="0">
            <a:off x="2647904" y="502217"/>
            <a:ext cx="3238407" cy="656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8"/>
              </a:lnSpc>
            </a:pPr>
            <a:r>
              <a:rPr lang="en-US" sz="4800">
                <a:solidFill>
                  <a:srgbClr val="FFFFFF"/>
                </a:solidFill>
                <a:latin typeface="Alatsi"/>
                <a:ea typeface="Alatsi"/>
                <a:cs typeface="Alatsi"/>
                <a:sym typeface="Alatsi"/>
              </a:rPr>
              <a:t>FLOWCHART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153282" y="502217"/>
            <a:ext cx="6004966" cy="656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8"/>
              </a:lnSpc>
            </a:pPr>
            <a:r>
              <a:rPr lang="en-US" sz="4800">
                <a:solidFill>
                  <a:srgbClr val="FFFFFF"/>
                </a:solidFill>
                <a:latin typeface="Alatsi"/>
                <a:ea typeface="Alatsi"/>
                <a:cs typeface="Alatsi"/>
                <a:sym typeface="Alatsi"/>
              </a:rPr>
              <a:t>SYSTEM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74C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96687">
            <a:off x="16803309" y="8541715"/>
            <a:ext cx="1209074" cy="1433170"/>
          </a:xfrm>
          <a:custGeom>
            <a:avLst/>
            <a:gdLst/>
            <a:ahLst/>
            <a:cxnLst/>
            <a:rect r="r" b="b" t="t" l="l"/>
            <a:pathLst>
              <a:path h="1433170" w="1209074">
                <a:moveTo>
                  <a:pt x="0" y="0"/>
                </a:moveTo>
                <a:lnTo>
                  <a:pt x="1209074" y="0"/>
                </a:lnTo>
                <a:lnTo>
                  <a:pt x="1209074" y="1433170"/>
                </a:lnTo>
                <a:lnTo>
                  <a:pt x="0" y="14331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577710"/>
            <a:ext cx="7663668" cy="2779581"/>
            <a:chOff x="0" y="0"/>
            <a:chExt cx="10218224" cy="3706108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218224" cy="3706108"/>
              <a:chOff x="0" y="0"/>
              <a:chExt cx="2018415" cy="732071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018415" cy="732071"/>
              </a:xfrm>
              <a:custGeom>
                <a:avLst/>
                <a:gdLst/>
                <a:ahLst/>
                <a:cxnLst/>
                <a:rect r="r" b="b" t="t" l="l"/>
                <a:pathLst>
                  <a:path h="732071" w="2018415">
                    <a:moveTo>
                      <a:pt x="24245" y="0"/>
                    </a:moveTo>
                    <a:lnTo>
                      <a:pt x="1994170" y="0"/>
                    </a:lnTo>
                    <a:cubicBezTo>
                      <a:pt x="2007560" y="0"/>
                      <a:pt x="2018415" y="10855"/>
                      <a:pt x="2018415" y="24245"/>
                    </a:cubicBezTo>
                    <a:lnTo>
                      <a:pt x="2018415" y="707826"/>
                    </a:lnTo>
                    <a:cubicBezTo>
                      <a:pt x="2018415" y="721216"/>
                      <a:pt x="2007560" y="732071"/>
                      <a:pt x="1994170" y="732071"/>
                    </a:cubicBezTo>
                    <a:lnTo>
                      <a:pt x="24245" y="732071"/>
                    </a:lnTo>
                    <a:cubicBezTo>
                      <a:pt x="10855" y="732071"/>
                      <a:pt x="0" y="721216"/>
                      <a:pt x="0" y="707826"/>
                    </a:cubicBezTo>
                    <a:lnTo>
                      <a:pt x="0" y="24245"/>
                    </a:lnTo>
                    <a:cubicBezTo>
                      <a:pt x="0" y="10855"/>
                      <a:pt x="10855" y="0"/>
                      <a:pt x="2424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85725"/>
                <a:ext cx="2018415" cy="8177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64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530156" y="500433"/>
              <a:ext cx="9157913" cy="25857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US" sz="2600">
                  <a:solidFill>
                    <a:srgbClr val="4040A3"/>
                  </a:solidFill>
                  <a:latin typeface="Alata"/>
                  <a:ea typeface="Alata"/>
                  <a:cs typeface="Alata"/>
                  <a:sym typeface="Alata"/>
                </a:rPr>
                <a:t>Real-Time D</a:t>
              </a:r>
              <a:r>
                <a:rPr lang="en-US" sz="2600">
                  <a:solidFill>
                    <a:srgbClr val="4040A3"/>
                  </a:solidFill>
                  <a:latin typeface="Alata"/>
                  <a:ea typeface="Alata"/>
                  <a:cs typeface="Alata"/>
                  <a:sym typeface="Alata"/>
                </a:rPr>
                <a:t>ata</a:t>
              </a:r>
            </a:p>
            <a:p>
              <a:pPr algn="l" marL="561341" indent="-280670" lvl="1">
                <a:lnSpc>
                  <a:spcPts val="3900"/>
                </a:lnSpc>
                <a:buFont typeface="Arial"/>
                <a:buChar char="•"/>
              </a:pPr>
              <a:r>
                <a:rPr lang="en-US" sz="2600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rPr>
                <a:t>Indep</a:t>
              </a:r>
              <a:r>
                <a:rPr lang="en-US" sz="2600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rPr>
                <a:t>endent of system clock</a:t>
              </a:r>
            </a:p>
            <a:p>
              <a:pPr algn="l" marL="561341" indent="-280670" lvl="1">
                <a:lnSpc>
                  <a:spcPts val="3900"/>
                </a:lnSpc>
                <a:buFont typeface="Arial"/>
                <a:buChar char="•"/>
              </a:pPr>
              <a:r>
                <a:rPr lang="en-US" sz="2600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rPr>
                <a:t>Always accurate global time information</a:t>
              </a:r>
            </a:p>
            <a:p>
              <a:pPr algn="l" marL="561341" indent="-280670" lvl="1">
                <a:lnSpc>
                  <a:spcPts val="3900"/>
                </a:lnSpc>
                <a:buFont typeface="Arial"/>
                <a:buChar char="•"/>
              </a:pPr>
              <a:r>
                <a:rPr lang="en-US" sz="2600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rPr>
                <a:t>T</a:t>
              </a:r>
              <a:r>
                <a:rPr lang="en-US" sz="2600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rPr>
                <a:t>ime calculations handled server-side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95632" y="1577710"/>
            <a:ext cx="7663668" cy="2779581"/>
            <a:chOff x="0" y="0"/>
            <a:chExt cx="10218224" cy="3706108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0218224" cy="3706108"/>
              <a:chOff x="0" y="0"/>
              <a:chExt cx="2018415" cy="73207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018415" cy="732071"/>
              </a:xfrm>
              <a:custGeom>
                <a:avLst/>
                <a:gdLst/>
                <a:ahLst/>
                <a:cxnLst/>
                <a:rect r="r" b="b" t="t" l="l"/>
                <a:pathLst>
                  <a:path h="732071" w="2018415">
                    <a:moveTo>
                      <a:pt x="24245" y="0"/>
                    </a:moveTo>
                    <a:lnTo>
                      <a:pt x="1994170" y="0"/>
                    </a:lnTo>
                    <a:cubicBezTo>
                      <a:pt x="2007560" y="0"/>
                      <a:pt x="2018415" y="10855"/>
                      <a:pt x="2018415" y="24245"/>
                    </a:cubicBezTo>
                    <a:lnTo>
                      <a:pt x="2018415" y="707826"/>
                    </a:lnTo>
                    <a:cubicBezTo>
                      <a:pt x="2018415" y="721216"/>
                      <a:pt x="2007560" y="732071"/>
                      <a:pt x="1994170" y="732071"/>
                    </a:cubicBezTo>
                    <a:lnTo>
                      <a:pt x="24245" y="732071"/>
                    </a:lnTo>
                    <a:cubicBezTo>
                      <a:pt x="10855" y="732071"/>
                      <a:pt x="0" y="721216"/>
                      <a:pt x="0" y="707826"/>
                    </a:cubicBezTo>
                    <a:lnTo>
                      <a:pt x="0" y="24245"/>
                    </a:lnTo>
                    <a:cubicBezTo>
                      <a:pt x="0" y="10855"/>
                      <a:pt x="10855" y="0"/>
                      <a:pt x="2424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85725"/>
                <a:ext cx="2018415" cy="8177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64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530156" y="500433"/>
              <a:ext cx="9157913" cy="25857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US" sz="2600">
                  <a:solidFill>
                    <a:srgbClr val="4040A3"/>
                  </a:solidFill>
                  <a:latin typeface="Alata"/>
                  <a:ea typeface="Alata"/>
                  <a:cs typeface="Alata"/>
                  <a:sym typeface="Alata"/>
                </a:rPr>
                <a:t>TimeZoneDB API</a:t>
              </a:r>
            </a:p>
            <a:p>
              <a:pPr algn="l" marL="561341" indent="-280670" lvl="1">
                <a:lnSpc>
                  <a:spcPts val="3900"/>
                </a:lnSpc>
                <a:buFont typeface="Arial"/>
                <a:buChar char="•"/>
              </a:pPr>
              <a:r>
                <a:rPr lang="en-US" sz="2600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rPr>
                <a:t>Fre</a:t>
              </a:r>
              <a:r>
                <a:rPr lang="en-US" sz="2600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rPr>
                <a:t>e tier supports 1 request/second</a:t>
              </a:r>
            </a:p>
            <a:p>
              <a:pPr algn="l" marL="561341" indent="-280670" lvl="1">
                <a:lnSpc>
                  <a:spcPts val="3900"/>
                </a:lnSpc>
                <a:buFont typeface="Arial"/>
                <a:buChar char="•"/>
              </a:pPr>
              <a:r>
                <a:rPr lang="en-US" sz="2600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rPr>
                <a:t>Comprehensive database of time zones</a:t>
              </a:r>
            </a:p>
            <a:p>
              <a:pPr algn="l" marL="561341" indent="-280670" lvl="1">
                <a:lnSpc>
                  <a:spcPts val="3900"/>
                </a:lnSpc>
                <a:buFont typeface="Arial"/>
                <a:buChar char="•"/>
              </a:pPr>
              <a:r>
                <a:rPr lang="en-US" sz="2600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rPr>
                <a:t>DST information included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5488119"/>
            <a:ext cx="8000340" cy="3770181"/>
            <a:chOff x="0" y="0"/>
            <a:chExt cx="10667120" cy="5026908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0667120" cy="5026908"/>
              <a:chOff x="0" y="0"/>
              <a:chExt cx="2107085" cy="99297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107086" cy="992970"/>
              </a:xfrm>
              <a:custGeom>
                <a:avLst/>
                <a:gdLst/>
                <a:ahLst/>
                <a:cxnLst/>
                <a:rect r="r" b="b" t="t" l="l"/>
                <a:pathLst>
                  <a:path h="992970" w="2107086">
                    <a:moveTo>
                      <a:pt x="23225" y="0"/>
                    </a:moveTo>
                    <a:lnTo>
                      <a:pt x="2083861" y="0"/>
                    </a:lnTo>
                    <a:cubicBezTo>
                      <a:pt x="2096688" y="0"/>
                      <a:pt x="2107086" y="10398"/>
                      <a:pt x="2107086" y="23225"/>
                    </a:cubicBezTo>
                    <a:lnTo>
                      <a:pt x="2107086" y="969745"/>
                    </a:lnTo>
                    <a:cubicBezTo>
                      <a:pt x="2107086" y="975904"/>
                      <a:pt x="2104639" y="981812"/>
                      <a:pt x="2100283" y="986167"/>
                    </a:cubicBezTo>
                    <a:cubicBezTo>
                      <a:pt x="2095928" y="990523"/>
                      <a:pt x="2090020" y="992970"/>
                      <a:pt x="2083861" y="992970"/>
                    </a:cubicBezTo>
                    <a:lnTo>
                      <a:pt x="23225" y="992970"/>
                    </a:lnTo>
                    <a:cubicBezTo>
                      <a:pt x="17065" y="992970"/>
                      <a:pt x="11158" y="990523"/>
                      <a:pt x="6802" y="986167"/>
                    </a:cubicBezTo>
                    <a:cubicBezTo>
                      <a:pt x="2447" y="981812"/>
                      <a:pt x="0" y="975904"/>
                      <a:pt x="0" y="969745"/>
                    </a:cubicBezTo>
                    <a:lnTo>
                      <a:pt x="0" y="23225"/>
                    </a:lnTo>
                    <a:cubicBezTo>
                      <a:pt x="0" y="17065"/>
                      <a:pt x="2447" y="11158"/>
                      <a:pt x="6802" y="6802"/>
                    </a:cubicBezTo>
                    <a:cubicBezTo>
                      <a:pt x="11158" y="2447"/>
                      <a:pt x="17065" y="0"/>
                      <a:pt x="2322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85725"/>
                <a:ext cx="2107085" cy="10786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64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553446" y="500433"/>
              <a:ext cx="9560228" cy="39065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US" sz="2600">
                  <a:solidFill>
                    <a:srgbClr val="4040A3"/>
                  </a:solidFill>
                  <a:latin typeface="Alata"/>
                  <a:ea typeface="Alata"/>
                  <a:cs typeface="Alata"/>
                  <a:sym typeface="Alata"/>
                </a:rPr>
                <a:t>Libraries </a:t>
              </a:r>
              <a:r>
                <a:rPr lang="en-US" sz="2600">
                  <a:solidFill>
                    <a:srgbClr val="4040A3"/>
                  </a:solidFill>
                  <a:latin typeface="Alata"/>
                  <a:ea typeface="Alata"/>
                  <a:cs typeface="Alata"/>
                  <a:sym typeface="Alata"/>
                </a:rPr>
                <a:t>a</a:t>
              </a:r>
              <a:r>
                <a:rPr lang="en-US" sz="2600">
                  <a:solidFill>
                    <a:srgbClr val="4040A3"/>
                  </a:solidFill>
                  <a:latin typeface="Alata"/>
                  <a:ea typeface="Alata"/>
                  <a:cs typeface="Alata"/>
                  <a:sym typeface="Alata"/>
                </a:rPr>
                <a:t>nd Tools</a:t>
              </a:r>
            </a:p>
            <a:p>
              <a:pPr algn="l" marL="561341" indent="-280670" lvl="1">
                <a:lnSpc>
                  <a:spcPts val="3900"/>
                </a:lnSpc>
                <a:buFont typeface="Arial"/>
                <a:buChar char="•"/>
              </a:pPr>
              <a:r>
                <a:rPr lang="en-US" sz="2600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rPr>
                <a:t>CURL: HTTP r</a:t>
              </a:r>
              <a:r>
                <a:rPr lang="en-US" sz="2600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rPr>
                <a:t>equests to REST API</a:t>
              </a:r>
            </a:p>
            <a:p>
              <a:pPr algn="l" marL="561341" indent="-280670" lvl="1">
                <a:lnSpc>
                  <a:spcPts val="3900"/>
                </a:lnSpc>
                <a:buFont typeface="Arial"/>
                <a:buChar char="•"/>
              </a:pPr>
              <a:r>
                <a:rPr lang="en-US" sz="2600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rPr>
                <a:t>nlohmann/json: C++ JSON parsing</a:t>
              </a:r>
            </a:p>
            <a:p>
              <a:pPr algn="l" marL="561341" indent="-280670" lvl="1">
                <a:lnSpc>
                  <a:spcPts val="3900"/>
                </a:lnSpc>
                <a:buFont typeface="Arial"/>
                <a:buChar char="•"/>
              </a:pPr>
              <a:r>
                <a:rPr lang="en-US" sz="2600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rPr>
                <a:t>CMake: Finding and Linking External Libs</a:t>
              </a:r>
            </a:p>
            <a:p>
              <a:pPr algn="l" marL="561341" indent="-280670" lvl="1">
                <a:lnSpc>
                  <a:spcPts val="3900"/>
                </a:lnSpc>
                <a:buFont typeface="Arial"/>
                <a:buChar char="•"/>
              </a:pPr>
              <a:r>
                <a:rPr lang="en-US" sz="2600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rPr>
                <a:t>GitHub: Collaboration and Code Review</a:t>
              </a:r>
            </a:p>
            <a:p>
              <a:pPr algn="l" marL="561341" indent="-280670" lvl="1">
                <a:lnSpc>
                  <a:spcPts val="3900"/>
                </a:lnSpc>
                <a:buFont typeface="Arial"/>
                <a:buChar char="•"/>
              </a:pPr>
              <a:r>
                <a:rPr lang="en-US" sz="2600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rPr>
                <a:t>Postman: API Testing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1385447" y="4970255"/>
            <a:ext cx="4593700" cy="4805909"/>
          </a:xfrm>
          <a:custGeom>
            <a:avLst/>
            <a:gdLst/>
            <a:ahLst/>
            <a:cxnLst/>
            <a:rect r="r" b="b" t="t" l="l"/>
            <a:pathLst>
              <a:path h="4805909" w="4593700">
                <a:moveTo>
                  <a:pt x="0" y="0"/>
                </a:moveTo>
                <a:lnTo>
                  <a:pt x="4593700" y="0"/>
                </a:lnTo>
                <a:lnTo>
                  <a:pt x="4593700" y="4805909"/>
                </a:lnTo>
                <a:lnTo>
                  <a:pt x="0" y="48059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38100" cap="rnd">
            <a:solidFill>
              <a:srgbClr val="FFFFFF"/>
            </a:solidFill>
            <a:prstDash val="dash"/>
            <a:round/>
          </a:ln>
        </p:spPr>
      </p:sp>
      <p:sp>
        <p:nvSpPr>
          <p:cNvPr name="TextBox 19" id="19"/>
          <p:cNvSpPr txBox="true"/>
          <p:nvPr/>
        </p:nvSpPr>
        <p:spPr>
          <a:xfrm rot="0">
            <a:off x="1028700" y="502217"/>
            <a:ext cx="4806420" cy="656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8"/>
              </a:lnSpc>
            </a:pPr>
            <a:r>
              <a:rPr lang="en-US" sz="4800">
                <a:solidFill>
                  <a:srgbClr val="FFFFFF"/>
                </a:solidFill>
                <a:latin typeface="Alatsi"/>
                <a:ea typeface="Alatsi"/>
                <a:cs typeface="Alatsi"/>
                <a:sym typeface="Alatsi"/>
              </a:rPr>
              <a:t>UNIQUE FEATURES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74C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96687">
            <a:off x="16803309" y="8541715"/>
            <a:ext cx="1209074" cy="1433170"/>
          </a:xfrm>
          <a:custGeom>
            <a:avLst/>
            <a:gdLst/>
            <a:ahLst/>
            <a:cxnLst/>
            <a:rect r="r" b="b" t="t" l="l"/>
            <a:pathLst>
              <a:path h="1433170" w="1209074">
                <a:moveTo>
                  <a:pt x="0" y="0"/>
                </a:moveTo>
                <a:lnTo>
                  <a:pt x="1209074" y="0"/>
                </a:lnTo>
                <a:lnTo>
                  <a:pt x="1209074" y="1433170"/>
                </a:lnTo>
                <a:lnTo>
                  <a:pt x="0" y="14331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018902"/>
            <a:ext cx="7663668" cy="2779581"/>
            <a:chOff x="0" y="0"/>
            <a:chExt cx="10218224" cy="3706108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218224" cy="3706108"/>
              <a:chOff x="0" y="0"/>
              <a:chExt cx="2018415" cy="732071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018415" cy="732071"/>
              </a:xfrm>
              <a:custGeom>
                <a:avLst/>
                <a:gdLst/>
                <a:ahLst/>
                <a:cxnLst/>
                <a:rect r="r" b="b" t="t" l="l"/>
                <a:pathLst>
                  <a:path h="732071" w="2018415">
                    <a:moveTo>
                      <a:pt x="24245" y="0"/>
                    </a:moveTo>
                    <a:lnTo>
                      <a:pt x="1994170" y="0"/>
                    </a:lnTo>
                    <a:cubicBezTo>
                      <a:pt x="2007560" y="0"/>
                      <a:pt x="2018415" y="10855"/>
                      <a:pt x="2018415" y="24245"/>
                    </a:cubicBezTo>
                    <a:lnTo>
                      <a:pt x="2018415" y="707826"/>
                    </a:lnTo>
                    <a:cubicBezTo>
                      <a:pt x="2018415" y="721216"/>
                      <a:pt x="2007560" y="732071"/>
                      <a:pt x="1994170" y="732071"/>
                    </a:cubicBezTo>
                    <a:lnTo>
                      <a:pt x="24245" y="732071"/>
                    </a:lnTo>
                    <a:cubicBezTo>
                      <a:pt x="10855" y="732071"/>
                      <a:pt x="0" y="721216"/>
                      <a:pt x="0" y="707826"/>
                    </a:cubicBezTo>
                    <a:lnTo>
                      <a:pt x="0" y="24245"/>
                    </a:lnTo>
                    <a:cubicBezTo>
                      <a:pt x="0" y="10855"/>
                      <a:pt x="10855" y="0"/>
                      <a:pt x="2424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85725"/>
                <a:ext cx="2018415" cy="8177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64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530156" y="500433"/>
              <a:ext cx="9157913" cy="25857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61341" indent="-280670" lvl="1">
                <a:lnSpc>
                  <a:spcPts val="3900"/>
                </a:lnSpc>
                <a:buFont typeface="Arial"/>
                <a:buChar char="•"/>
              </a:pPr>
              <a:r>
                <a:rPr lang="en-US" sz="2600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rPr>
                <a:t>Rapid API requests</a:t>
              </a:r>
            </a:p>
            <a:p>
              <a:pPr algn="l" marL="561341" indent="-280670" lvl="1">
                <a:lnSpc>
                  <a:spcPts val="3900"/>
                </a:lnSpc>
                <a:buFont typeface="Arial"/>
                <a:buChar char="•"/>
              </a:pPr>
              <a:r>
                <a:rPr lang="en-US" sz="2600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rPr>
                <a:t>Thread</a:t>
              </a:r>
              <a:r>
                <a:rPr lang="en-US" sz="2600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rPr>
                <a:t> Pausing </a:t>
              </a:r>
              <a:r>
                <a:rPr lang="en-US" sz="2600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rPr>
                <a:t>to </a:t>
              </a:r>
              <a:r>
                <a:rPr lang="en-US" sz="2600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rPr>
                <a:t>pr</a:t>
              </a:r>
              <a:r>
                <a:rPr lang="en-US" sz="2600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rPr>
                <a:t>event it</a:t>
              </a:r>
            </a:p>
            <a:p>
              <a:pPr algn="l" marL="561341" indent="-280670" lvl="1">
                <a:lnSpc>
                  <a:spcPts val="3900"/>
                </a:lnSpc>
                <a:buFont typeface="Arial"/>
                <a:buChar char="•"/>
              </a:pPr>
              <a:r>
                <a:rPr lang="en-US" sz="2600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rPr>
                <a:t>Error handling and fallback mechanisms</a:t>
              </a:r>
            </a:p>
            <a:p>
              <a:pPr algn="l">
                <a:lnSpc>
                  <a:spcPts val="390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943409"/>
            <a:ext cx="8115300" cy="656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8"/>
              </a:lnSpc>
            </a:pPr>
            <a:r>
              <a:rPr lang="en-US" sz="4800">
                <a:solidFill>
                  <a:srgbClr val="FFFFFF"/>
                </a:solidFill>
                <a:latin typeface="Alatsi"/>
                <a:ea typeface="Alatsi"/>
                <a:cs typeface="Alatsi"/>
                <a:sym typeface="Alatsi"/>
              </a:rPr>
              <a:t>TECHNICAL CHALLENGES FACED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419120" y="6653878"/>
            <a:ext cx="7663668" cy="2284281"/>
            <a:chOff x="0" y="0"/>
            <a:chExt cx="10218224" cy="304570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0218224" cy="3045708"/>
              <a:chOff x="0" y="0"/>
              <a:chExt cx="2018415" cy="601621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018415" cy="601621"/>
              </a:xfrm>
              <a:custGeom>
                <a:avLst/>
                <a:gdLst/>
                <a:ahLst/>
                <a:cxnLst/>
                <a:rect r="r" b="b" t="t" l="l"/>
                <a:pathLst>
                  <a:path h="601621" w="2018415">
                    <a:moveTo>
                      <a:pt x="24245" y="0"/>
                    </a:moveTo>
                    <a:lnTo>
                      <a:pt x="1994170" y="0"/>
                    </a:lnTo>
                    <a:cubicBezTo>
                      <a:pt x="2007560" y="0"/>
                      <a:pt x="2018415" y="10855"/>
                      <a:pt x="2018415" y="24245"/>
                    </a:cubicBezTo>
                    <a:lnTo>
                      <a:pt x="2018415" y="577376"/>
                    </a:lnTo>
                    <a:cubicBezTo>
                      <a:pt x="2018415" y="590767"/>
                      <a:pt x="2007560" y="601621"/>
                      <a:pt x="1994170" y="601621"/>
                    </a:cubicBezTo>
                    <a:lnTo>
                      <a:pt x="24245" y="601621"/>
                    </a:lnTo>
                    <a:cubicBezTo>
                      <a:pt x="10855" y="601621"/>
                      <a:pt x="0" y="590767"/>
                      <a:pt x="0" y="577376"/>
                    </a:cubicBezTo>
                    <a:lnTo>
                      <a:pt x="0" y="24245"/>
                    </a:lnTo>
                    <a:cubicBezTo>
                      <a:pt x="0" y="10855"/>
                      <a:pt x="10855" y="0"/>
                      <a:pt x="2424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85725"/>
                <a:ext cx="2018415" cy="6873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64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530156" y="500433"/>
              <a:ext cx="9157913" cy="19253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61341" indent="-280670" lvl="1">
                <a:lnSpc>
                  <a:spcPts val="3900"/>
                </a:lnSpc>
                <a:buFont typeface="Arial"/>
                <a:buChar char="•"/>
              </a:pPr>
              <a:r>
                <a:rPr lang="en-US" sz="2600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rPr>
                <a:t>API request rate limits</a:t>
              </a:r>
            </a:p>
            <a:p>
              <a:pPr algn="l" marL="561341" indent="-280670" lvl="1">
                <a:lnSpc>
                  <a:spcPts val="3900"/>
                </a:lnSpc>
                <a:buFont typeface="Arial"/>
                <a:buChar char="•"/>
              </a:pPr>
              <a:r>
                <a:rPr lang="en-US" sz="2600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rPr>
                <a:t>GUI implement</a:t>
              </a:r>
              <a:r>
                <a:rPr lang="en-US" sz="2600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rPr>
                <a:t>ation</a:t>
              </a:r>
            </a:p>
            <a:p>
              <a:pPr algn="l" marL="561341" indent="-280670" lvl="1">
                <a:lnSpc>
                  <a:spcPts val="3900"/>
                </a:lnSpc>
                <a:buFont typeface="Arial"/>
                <a:buChar char="•"/>
              </a:pPr>
              <a:r>
                <a:rPr lang="en-US" sz="2600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rPr>
                <a:t>Caching of Time Zone &amp; User data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419120" y="5578385"/>
            <a:ext cx="8665776" cy="656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8"/>
              </a:lnSpc>
            </a:pPr>
            <a:r>
              <a:rPr lang="en-US" sz="4800">
                <a:solidFill>
                  <a:srgbClr val="FFFFFF"/>
                </a:solidFill>
                <a:latin typeface="Alatsi"/>
                <a:ea typeface="Alatsi"/>
                <a:cs typeface="Alatsi"/>
                <a:sym typeface="Alatsi"/>
              </a:rPr>
              <a:t>LIMITATIONS AND FUTURE WORK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74C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96687">
            <a:off x="16803309" y="8541715"/>
            <a:ext cx="1209074" cy="1433170"/>
          </a:xfrm>
          <a:custGeom>
            <a:avLst/>
            <a:gdLst/>
            <a:ahLst/>
            <a:cxnLst/>
            <a:rect r="r" b="b" t="t" l="l"/>
            <a:pathLst>
              <a:path h="1433170" w="1209074">
                <a:moveTo>
                  <a:pt x="0" y="0"/>
                </a:moveTo>
                <a:lnTo>
                  <a:pt x="1209074" y="0"/>
                </a:lnTo>
                <a:lnTo>
                  <a:pt x="1209074" y="1433170"/>
                </a:lnTo>
                <a:lnTo>
                  <a:pt x="0" y="1433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296343" y="4645592"/>
            <a:ext cx="7695315" cy="109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60"/>
              </a:lnSpc>
            </a:pPr>
            <a:r>
              <a:rPr lang="en-US" sz="7793">
                <a:solidFill>
                  <a:srgbClr val="FFFFFF"/>
                </a:solidFill>
                <a:latin typeface="Alatsi"/>
                <a:ea typeface="Alatsi"/>
                <a:cs typeface="Alatsi"/>
                <a:sym typeface="Alatsi"/>
              </a:rPr>
              <a:t>ANY QUESTIONS ?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74C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96687">
            <a:off x="16803309" y="8541715"/>
            <a:ext cx="1209074" cy="1433170"/>
          </a:xfrm>
          <a:custGeom>
            <a:avLst/>
            <a:gdLst/>
            <a:ahLst/>
            <a:cxnLst/>
            <a:rect r="r" b="b" t="t" l="l"/>
            <a:pathLst>
              <a:path h="1433170" w="1209074">
                <a:moveTo>
                  <a:pt x="0" y="0"/>
                </a:moveTo>
                <a:lnTo>
                  <a:pt x="1209074" y="0"/>
                </a:lnTo>
                <a:lnTo>
                  <a:pt x="1209074" y="1433170"/>
                </a:lnTo>
                <a:lnTo>
                  <a:pt x="0" y="1433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64513" y="4645592"/>
            <a:ext cx="5758974" cy="109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60"/>
              </a:lnSpc>
            </a:pPr>
            <a:r>
              <a:rPr lang="en-US" sz="7793">
                <a:solidFill>
                  <a:srgbClr val="FFFFFF"/>
                </a:solidFill>
                <a:latin typeface="Alatsi"/>
                <a:ea typeface="Alatsi"/>
                <a:cs typeface="Alatsi"/>
                <a:sym typeface="Alatsi"/>
              </a:rPr>
              <a:t>THANK YOU!!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DAGi1sJF6cY</dc:identifier>
  <dcterms:modified xsi:type="dcterms:W3CDTF">2011-08-01T06:04:30Z</dcterms:modified>
  <cp:revision>1</cp:revision>
  <dc:title>The Global Time Zone App</dc:title>
</cp:coreProperties>
</file>